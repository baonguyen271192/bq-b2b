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BQ WHOLESALE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Mô tả tính năng: App Sỉ (Đại lý) &amp; Web 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8541E"/>
                </a:solidFill>
                <a:latin typeface="Arial"/>
              </a:rPr>
              <a:t>Hệ thống đặt đơn sỉ B2B — Giày 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E293B"/>
                </a:solidFill>
                <a:latin typeface="Arial"/>
              </a:rPr>
              <a:t>Web dashboard (Sale/Quản lý) + App di động cho đại lý, cùng chia sẻ 1 quy trình nghiệp vụ:</a:t>
            </a:r>
          </a:p>
          <a:p>
            <a:r>
              <a:rPr sz="1400">
                <a:solidFill>
                  <a:srgbClr val="1E293B"/>
                </a:solidFill>
                <a:latin typeface="Arial"/>
              </a:rPr>
              <a:t>đặt đơn theo size → kiểm hạn mức công nợ → duyệt/xử lý đơn → giao nhận → thanh toán.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091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86460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8541E"/>
                </a:solidFill>
                <a:latin typeface="Arial"/>
              </a:rPr>
              <a:t>App Sỉ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2120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rial"/>
              </a:rPr>
              <a:t>Đại lý tự đặt hàng, theo dõi đơn, công nợ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709160"/>
            <a:ext cx="5120640" cy="14173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864608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E293B"/>
                </a:solidFill>
                <a:latin typeface="Arial"/>
              </a:rPr>
              <a:t>Web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2120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64748B"/>
                </a:solidFill>
                <a:latin typeface="Arial"/>
              </a:rPr>
              <a:t>Sale/Quản lý duyệt đơn, tồn kho, đại lý, công nợ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Kiến trúc &amp; luồng dữ liệu chung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App Sỉ và Web Admin dùng chung 1 nền tảng dữ liệu — mọi thay đổi ở 1 phía phản ánh ngay phía kia.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DECE3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8541E"/>
                </a:solidFill>
                <a:latin typeface="Arial"/>
              </a:rPr>
              <a:t>App Sỉ (đại lý)</a:t>
            </a:r>
          </a:p>
          <a:p>
            <a:pPr algn="ctr"/>
            <a:r>
              <a:rPr sz="1050">
                <a:solidFill>
                  <a:srgbClr val="64748B"/>
                </a:solidFill>
                <a:latin typeface="Arial"/>
              </a:rPr>
              <a:t>Ứng dụng di động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Arial"/>
              </a:rPr>
              <a:t>Web Admin</a:t>
            </a:r>
          </a:p>
          <a:p>
            <a:pPr algn="ctr"/>
            <a:r>
              <a:rPr sz="1050">
                <a:solidFill>
                  <a:srgbClr val="64748B"/>
                </a:solidFill>
                <a:latin typeface="Arial"/>
              </a:rPr>
              <a:t>Trang quản trị Sale/Quản lý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37744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Arial"/>
              </a:rPr>
              <a:t>Hệ thống xử lý</a:t>
            </a:r>
          </a:p>
          <a:p>
            <a:pPr algn="ctr"/>
            <a:r>
              <a:rPr sz="1300" b="1">
                <a:solidFill>
                  <a:srgbClr val="1E293B"/>
                </a:solidFill>
                <a:latin typeface="Arial"/>
              </a:rPr>
              <a:t>đơn hàng trung tâm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237744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93B"/>
                </a:solidFill>
                <a:latin typeface="Arial"/>
              </a:rPr>
              <a:t>Cơ sở dữ liệu</a:t>
            </a:r>
          </a:p>
          <a:p>
            <a:pPr algn="ctr"/>
            <a:r>
              <a:rPr sz="1300" b="1">
                <a:solidFill>
                  <a:srgbClr val="1E293B"/>
                </a:solidFill>
                <a:latin typeface="Arial"/>
              </a:rPr>
              <a:t>chung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3774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DECE3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8541E"/>
                </a:solidFill>
                <a:latin typeface="Arial"/>
              </a:rPr>
              <a:t>Trợ lý AI</a:t>
            </a:r>
          </a:p>
          <a:p>
            <a:pPr algn="ctr"/>
            <a:r>
              <a:rPr sz="1050">
                <a:solidFill>
                  <a:srgbClr val="64748B"/>
                </a:solidFill>
                <a:latin typeface="Arial"/>
              </a:rPr>
              <a:t>Đại lý &amp; Sale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2194560.0"/>
            <a:ext cx="914400" cy="640080.0"/>
          </a:xfrm>
          <a:prstGeom prst="bentConnector3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291840" y="2834640.0"/>
            <a:ext cx="914400" cy="640080.0"/>
          </a:xfrm>
          <a:prstGeom prst="bentConnector3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83680" y="2834640.0"/>
            <a:ext cx="822960" cy="0.0"/>
          </a:xfrm>
          <a:prstGeom prst="bentConnector3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509760" y="2834640.0"/>
            <a:ext cx="91440" cy="0.0"/>
          </a:xfrm>
          <a:prstGeom prst="bentConnector3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4343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8541E"/>
                </a:solidFill>
                <a:latin typeface="Arial"/>
              </a:rPr>
              <a:t>Nguyên tắc thiết kế: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●  1 nguồn dữ liệu đơn hàng, đại lý, công nợ, tồn kho — đại lý thấy gì, Sale/Quản lý thấy đúng cái đó, theo thời gian thực.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●  Trợ lý AI có 2 vai riêng biệt: phục vụ đại lý trong App Sỉ, và phục vụ Sale/Quản lý trong Web Admin (phạm vi dữ liệu khác nhau).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1E293B"/>
                </a:solidFill>
                <a:latin typeface="Arial"/>
              </a:rPr>
              <a:t>●  Dữ liệu hiện là dữ liệu mẫu demo — sẵn sàng thay bằng dữ liệu ERP/CRM thật mà không đổi quy trình nghiệp vụ.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Phần 1 · App Sỉ (Đại lý)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Arial"/>
              </a:rPr>
              <a:t>Ứng dụng di động cho đại lý — tự đặt hàng, theo dõi đơn, quản lý công nợ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563624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APP SỈ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Trang chủ &amp; Điều hướng nhanh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Bức tranh tổng quan của đại lý ngay khi mở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Chào theo khung giờ, hiện tên/mã đại lý + bậc chiết khấu (Đồng/Bạc/Vàng/Kim Cương).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Thẻ Hạn mức &amp; Công nợ: tổng, đã dùng, khả dụng, hạn thanh toán gần nhất.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Nút “Tạo đơn hàng mới” + 3 đơn gần nhất kèm trạng thái theo màu.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Thanh điều hướng 5 mục; chuông thông báo &amp; giỏ hàng có huy hiệu số lượng.</a:t>
            </a:r>
          </a:p>
        </p:txBody>
      </p:sp>
      <p:pic>
        <p:nvPicPr>
          <p:cNvPr id="8" name="Picture 7" descr="app_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476" y="2103120"/>
            <a:ext cx="1940647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App Sỉ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563624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APP SỈ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Danh mục &amp; Đặt hàng theo Size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Lõi nghiệp vụ đặt đơn sỉ của đại lý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Danh sách sản phẩm: tìm kiếm, lọc danh mục, sắp xếp — giá đã theo bậc đại lý.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Chi tiết sản phẩm: gallery nhiều góc, giá sỉ song song giá lẻ đề xuất.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Bảng Size Matrix: tồn kho thực tế từng size, cảnh báo sắp hết/hết hàng, +/- số lượng.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Tự tính tổng đôi, tổng tiền, chiết khấu và khấu trừ hạn mức ngay khi chọn.</a:t>
            </a:r>
          </a:p>
        </p:txBody>
      </p:sp>
      <p:pic>
        <p:nvPicPr>
          <p:cNvPr id="8" name="Picture 7" descr="app_02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853" y="2103120"/>
            <a:ext cx="1940647" cy="4206240"/>
          </a:xfrm>
          <a:prstGeom prst="rect">
            <a:avLst/>
          </a:prstGeom>
        </p:spPr>
      </p:pic>
      <p:pic>
        <p:nvPicPr>
          <p:cNvPr id="9" name="Picture 8" descr="app_02b_product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2103120"/>
            <a:ext cx="1940647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App Sỉ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563624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APP SỈ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Checkout &amp; Xác nhận đơn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Từ giỏ hàng tới đơn hàng chính thức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Chọn kho nhận hàng trong sổ địa chỉ B2B, hiện người nhận &amp; SĐT.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3 hình thức thanh toán: chuyển khoản, COD sỉ, công nợ 30 ngày (mặc định).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Ghi chú mua hàng &amp; vận chuyển tuỳ chọn.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Xem lại toàn bộ đơn trước khi gửi; trang thành công hiện mã đơn &amp; thời gian xử lý dự kiến.</a:t>
            </a:r>
          </a:p>
        </p:txBody>
      </p:sp>
      <p:pic>
        <p:nvPicPr>
          <p:cNvPr id="8" name="Picture 7" descr="app_03_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853" y="2103120"/>
            <a:ext cx="1940647" cy="4206240"/>
          </a:xfrm>
          <a:prstGeom prst="rect">
            <a:avLst/>
          </a:prstGeom>
        </p:spPr>
      </p:pic>
      <p:pic>
        <p:nvPicPr>
          <p:cNvPr id="9" name="Picture 8" descr="app_04_che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2103120"/>
            <a:ext cx="1940647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App Sỉ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563624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APP SỈ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Theo dõi đơn hàng &amp; Hoá đơn VAT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Quản lý vòng đời đơn sau khi đặt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Danh sách đơn có tab lọc trạng thái, tìm theo mã/sản phẩm, tự làm mới mỗi 4s.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Timeline 5 bước theo dõi đơn từ gửi đến nhận hàng.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Đại lý tự bấm “Đã nhận hàng”; huỷ đơn hoàn ngay hạn mức.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“Mua lại” tạo giỏ hàng y hệt đơn cũ; xuất hoá đơn VAT dạng PDF.</a:t>
            </a:r>
          </a:p>
        </p:txBody>
      </p:sp>
      <p:pic>
        <p:nvPicPr>
          <p:cNvPr id="8" name="Picture 7" descr="app_05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853" y="2103120"/>
            <a:ext cx="1940647" cy="4206240"/>
          </a:xfrm>
          <a:prstGeom prst="rect">
            <a:avLst/>
          </a:prstGeom>
        </p:spPr>
      </p:pic>
      <p:pic>
        <p:nvPicPr>
          <p:cNvPr id="9" name="Picture 8" descr="app_05b_order_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2103120"/>
            <a:ext cx="1940647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App Sỉ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563624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APP SỈ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Công nợ &amp; Hồ sơ đại lý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Theo dõi hạn mức và quản lý thông tin đại lý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Hạn mức tín dụng: tổng, đã dùng, khả dụng — thanh tiến trình trực quan, nút thanh toán công nợ.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Danh sách hoá đơn chưa thanh toán + lịch sử giao dịch đầy đủ.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Hồ sơ đại diện đại lý: chủ đại lý, số điện thoại, email, địa chỉ xuất hoá đơn.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Sổ địa chỉ giao hàng (thêm/sửa/xoá/đặt mặc định), cài đặt thông báo, đăng xuất.</a:t>
            </a:r>
          </a:p>
        </p:txBody>
      </p:sp>
      <p:pic>
        <p:nvPicPr>
          <p:cNvPr id="8" name="Picture 7" descr="app_06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853" y="2103120"/>
            <a:ext cx="1940647" cy="4206240"/>
          </a:xfrm>
          <a:prstGeom prst="rect">
            <a:avLst/>
          </a:prstGeom>
        </p:spPr>
      </p:pic>
      <p:pic>
        <p:nvPicPr>
          <p:cNvPr id="9" name="Picture 8" descr="app_08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2103120"/>
            <a:ext cx="1940647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App Sỉ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563624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APP SỈ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Trợ lý AI đặt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Đặt đơn nhanh bằng chat, không cần thao tác tay từng bước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Chat nổi trên mọi trang (trừ lúc thanh toán) — hỏi đáp công nợ, đơn hàng bằng ngôn ngữ tự nhiên.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Dựng sẵn đơn nháp ngay từ câu lệnh, ví dụ: “Đặt Solara size 36-38, mỗi size 10”.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Đại lý chỉ cần xem lại và bấm xác nhận — nhanh hơn nhiều so với chọn từng sản phẩm, từng size.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Nếu đơn vượt hạn mức công nợ, trợ lý báo ngay để đại lý biết cần thanh toán trước.</a:t>
            </a:r>
          </a:p>
        </p:txBody>
      </p:sp>
      <p:pic>
        <p:nvPicPr>
          <p:cNvPr id="8" name="Picture 7" descr="app_07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476" y="2103120"/>
            <a:ext cx="1940647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App Sỉ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5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Phần 2 · Web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Arial"/>
              </a:rPr>
              <a:t>Dashboard cho Sale &amp; Quản lý — vận hành, duyệt đơn, kiểm soát tồn kho &amp; công nợ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  <a:latin typeface="Arial"/>
              </a:rP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865376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WEB ADMIN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Tổng quan kinh doanh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Bức tranh kinh doanh theo thời gian thực — mọi kênh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4 chỉ số chính theo thời gian thực: tổng doanh số, tổng đơn, tổng công nợ phải thu, cảnh báo tồn kho thấp.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Biểu đồ đơn theo kênh (App/Web/Facebook/AI Chat) và theo trạng thái xử lý.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Top sản phẩm bán chạy, công nợ theo từng đại lý.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Công nợ theo nhóm số ngày quá hạn (0–30 / 31–60 / 61–90 / trên 90 ngày) — tự cảnh báo đỏ khi quá hạn.</a:t>
            </a:r>
          </a:p>
        </p:txBody>
      </p:sp>
      <p:pic>
        <p:nvPicPr>
          <p:cNvPr id="8" name="Picture 7" descr="admin_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77490"/>
            <a:ext cx="4572000" cy="2857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Web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865376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WEB ADMIN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Quản lý Đơn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Trung tâm xử lý đơn cho cả kênh sỉ và khách lẻ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Gộp 2 nguồn đơn trong 1 nơi quản lý: Đơn sỉ (đại lý) và Đơn lẻ (khách qua Facebook).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Đơn vượt hạn mức công nợ cần Sale/Quản lý Duyệt hoặc Từ chối trước khi xử lý tiếp.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Chuyển đơn qua từng bước trạng thái (xác nhận → đóng gói → bàn giao → hoàn tất) hoặc huỷ đơn.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Đơn lẻ có khách đang than phiền được đánh dấu cảnh báo riêng; bảng tự làm mới, tìm nhanh theo mã/đại lý/sản phẩm.</a:t>
            </a:r>
          </a:p>
        </p:txBody>
      </p:sp>
      <p:pic>
        <p:nvPicPr>
          <p:cNvPr id="8" name="Picture 7" descr="admin_02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77490"/>
            <a:ext cx="4572000" cy="2857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Web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865376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WEB ADMIN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Sản phẩm &amp; Tồn kho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Quản trị danh mục sản phẩm và tồn kho theo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Danh sách đầy đủ: giá lẻ, giá sỉ, tồn kho theo từng size.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Cảnh báo màu khi tồn kho thấp (≤5 đôi) hoặc hết hàng.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Thêm, sửa, xoá sản phẩm qua cửa sổ popup — nhập tồn kho nhanh theo cú pháp “size:số lượng”.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Tìm kiếm theo tên, mã sản phẩm, nhóm hàng.</a:t>
            </a:r>
          </a:p>
        </p:txBody>
      </p:sp>
      <p:pic>
        <p:nvPicPr>
          <p:cNvPr id="8" name="Picture 7" descr="admin_03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77490"/>
            <a:ext cx="4572000" cy="2857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Web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865376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WEB ADMIN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Quản lý Đại lý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Hồ sơ, bậc chiết khấu và hạn mức công nợ từng đại lý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Danh sách đại lý kèm bậc chiết khấu (Đồng/Bạc/Vàng/Kim Cương).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Thanh tiến trình trực quan hạn mức công nợ đã dùng/khả dụng, cảnh báo khi gần chạm hạn mức.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Thêm đại lý mới hoặc sửa bậc, hạn mức, người phụ trách qua cửa sổ popup.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Dữ liệu đồng bộ ngay với App Sỉ — đại lý luôn thấy đúng hạn mức Sale vừa cập nhật.</a:t>
            </a:r>
          </a:p>
        </p:txBody>
      </p:sp>
      <p:pic>
        <p:nvPicPr>
          <p:cNvPr id="8" name="Picture 7" descr="admin_04_dea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77490"/>
            <a:ext cx="4572000" cy="2857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Web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865376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WEB ADMIN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Quản lý Công nợ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Theo dõi hạn mức, hoá đơn chưa trả và ghi nhận thanh toán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Chọn 1 đại lý để xem chi tiết: hạn mức, đã dùng, khả dụng.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Danh sách hoá đơn chưa thanh toán, nút “Ghi nhận đã trả” xác nhận thanh toán thủ công.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Lịch sử giao dịch đầy đủ theo thời gian.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Dùng chung dữ liệu với App Sỉ — cập nhật phản ánh ngay lập tức cho đại lý.</a:t>
            </a:r>
          </a:p>
        </p:txBody>
      </p:sp>
      <p:pic>
        <p:nvPicPr>
          <p:cNvPr id="8" name="Picture 7" descr="admin_05_cr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77490"/>
            <a:ext cx="4572000" cy="2857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Web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865376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WEB ADMIN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Trợ lý AI cho Sale &amp; Quản lý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Mascot chat nổi, nắm toàn bộ dữ liệu hệ thống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Mascot nổi, kéo-thả vị trí, mở chat riêng cho Sale/Quản lý.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Trả lời tổng hợp: tình hình kinh doanh, đại lý nợ nhiều nhất, đơn cần duyệt.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Soạn sẵn tin nhắn nhắc công nợ gửi đại lý cụ thể.</a:t>
            </a:r>
          </a:p>
          <a:p>
            <a:pPr>
              <a:spcAft>
                <a:spcPts val="1600"/>
              </a:spcAft>
            </a:pPr>
            <a:r>
              <a:rPr sz="1350">
                <a:solidFill>
                  <a:srgbClr val="1E293B"/>
                </a:solidFill>
                <a:latin typeface="Arial"/>
              </a:rPr>
              <a:t>●  Thấy dữ liệu toàn hệ thống (mọi đại lý) — phạm vi truy vấn rộng hơn trợ lý phía đại lý.</a:t>
            </a:r>
          </a:p>
        </p:txBody>
      </p:sp>
      <p:pic>
        <p:nvPicPr>
          <p:cNvPr id="8" name="Picture 7" descr="admin_06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77490"/>
            <a:ext cx="4572000" cy="2857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Web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834640" cy="320040"/>
          </a:xfrm>
          <a:prstGeom prst="roundRect">
            <a:avLst>
              <a:gd name="adj" fmla="val 50000"/>
            </a:avLst>
          </a:prstGeom>
          <a:solidFill>
            <a:srgbClr val="FD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100" b="1">
                <a:solidFill>
                  <a:srgbClr val="E8541E"/>
                </a:solidFill>
                <a:latin typeface="Arial"/>
              </a:rPr>
              <a:t>WEB ADMIN · 07 · ĐỀ XUẤT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293B"/>
                </a:solidFill>
                <a:latin typeface="Arial"/>
              </a:rPr>
              <a:t>Nhập đơn hàng loạt từ Excel/Word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4748B"/>
                </a:solidFill>
                <a:latin typeface="Arial"/>
              </a:rPr>
              <a:t>Sale đặt hộ đại lý với số lượng lớn — thay vì đại lý phải nhập tay từng dòng sản phẩm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0789920" cy="4480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300">
                <a:solidFill>
                  <a:srgbClr val="1E293B"/>
                </a:solidFill>
                <a:latin typeface="Arial"/>
              </a:rPr>
              <a:t>●  Sale tải lên file Excel/Word chứa danh sách SKU + size + số lượng, đặt hộ cho 1 đại lý cụ thể.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1E293B"/>
                </a:solidFill>
                <a:latin typeface="Arial"/>
              </a:rPr>
              <a:t>●  Hệ thống đọc file, đối chiếu SKU/size với tồn kho thực tế — báo rõ dòng nào sai mã hoặc hết hàng.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1E293B"/>
                </a:solidFill>
                <a:latin typeface="Arial"/>
              </a:rPr>
              <a:t>●  Màn xem trước (preview) toàn bộ đơn trước khi xác nhận: tổng tiền, chiết khấu theo bậc, khấu trừ hạn mức công nợ của đại lý.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1E293B"/>
                </a:solidFill>
                <a:latin typeface="Arial"/>
              </a:rPr>
              <a:t>●  Xác nhận 1 lần tạo đơn hàng loạt — tiết kiệm thời gian so với đặt tay từng sản phẩm, từng size.</a:t>
            </a:r>
          </a:p>
          <a:p>
            <a:pPr>
              <a:spcAft>
                <a:spcPts val="1400"/>
              </a:spcAft>
            </a:pPr>
            <a:r>
              <a:rPr sz="1300">
                <a:solidFill>
                  <a:srgbClr val="1E293B"/>
                </a:solidFill>
                <a:latin typeface="Arial"/>
              </a:rPr>
              <a:t>●  Có file Excel mẫu (template) chuẩn để tải về, điền sẵn — giảm sai sót định dạng khi nhập liệu.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194560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7960" y="2340864"/>
            <a:ext cx="548640" cy="548640"/>
          </a:xfrm>
          <a:prstGeom prst="ellipse">
            <a:avLst/>
          </a:prstGeom>
          <a:solidFill>
            <a:srgbClr val="E7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/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267712"/>
            <a:ext cx="3291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Arial"/>
              </a:rPr>
              <a:t>Bước 1 · Tải lên file Excel/Word</a:t>
            </a:r>
          </a:p>
          <a:p>
            <a:r>
              <a:rPr sz="1050">
                <a:solidFill>
                  <a:srgbClr val="64748B"/>
                </a:solidFill>
                <a:latin typeface="Arial"/>
              </a:rPr>
              <a:t>Danh sách SKU · size · số lượng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467344" y="3040380"/>
            <a:ext cx="164592" cy="128016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3172968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60" y="3319272"/>
            <a:ext cx="548640" cy="548640"/>
          </a:xfrm>
          <a:prstGeom prst="ellipse">
            <a:avLst/>
          </a:prstGeom>
          <a:solidFill>
            <a:srgbClr val="E7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/>
              <a:t>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246120"/>
            <a:ext cx="3291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Arial"/>
              </a:rPr>
              <a:t>Bước 2 · Hệ thống kiểm tra</a:t>
            </a:r>
          </a:p>
          <a:p>
            <a:r>
              <a:rPr sz="1050">
                <a:solidFill>
                  <a:srgbClr val="64748B"/>
                </a:solidFill>
                <a:latin typeface="Arial"/>
              </a:rPr>
              <a:t>Đối chiếu tồn kho, báo lỗi dòng sai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467344" y="4018788"/>
            <a:ext cx="164592" cy="128016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4151376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4297680"/>
            <a:ext cx="548640" cy="548640"/>
          </a:xfrm>
          <a:prstGeom prst="ellipse">
            <a:avLst/>
          </a:prstGeom>
          <a:solidFill>
            <a:srgbClr val="E7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/>
              <a:t>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224528"/>
            <a:ext cx="3291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Arial"/>
              </a:rPr>
              <a:t>Bước 3 · Xem trước đơn hàng</a:t>
            </a:r>
          </a:p>
          <a:p>
            <a:r>
              <a:rPr sz="1050">
                <a:solidFill>
                  <a:srgbClr val="64748B"/>
                </a:solidFill>
                <a:latin typeface="Arial"/>
              </a:rPr>
              <a:t>Tổng tiền · chiết khấu · hạn mức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467344" y="4997196"/>
            <a:ext cx="164592" cy="128016"/>
          </a:xfrm>
          <a:prstGeom prst="down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5129784"/>
            <a:ext cx="4297680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37960" y="5276088"/>
            <a:ext cx="548640" cy="548640"/>
          </a:xfrm>
          <a:prstGeom prst="ellipse">
            <a:avLst/>
          </a:prstGeom>
          <a:solidFill>
            <a:srgbClr val="E7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/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202936"/>
            <a:ext cx="32918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Arial"/>
              </a:rPr>
              <a:t>Bước 4 · Xác nhận, tạo đơn loạt</a:t>
            </a:r>
          </a:p>
          <a:p>
            <a:r>
              <a:rPr sz="1050">
                <a:solidFill>
                  <a:srgbClr val="64748B"/>
                </a:solidFill>
                <a:latin typeface="Arial"/>
              </a:rPr>
              <a:t>Ghi thẳng vào hệ thống cho đại lý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BQ B2B — App Sỉ &amp; Web Admin  ·  Web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